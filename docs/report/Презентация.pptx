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Среднее заполнение bucket (75 узлов на схему)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прогноз</c:v>
                </c:pt>
              </c:strCache>
            </c:strRef>
          </c:tx>
          <c:spPr>
            <a:solidFill>
              <a:srgbClr val="C9D3DA"/>
            </a:solidFill>
          </c:spPr>
          <c:cat>
            <c:strRef>
              <c:f>Sheet1!$A$2:$A$7</c:f>
              <c:strCache>
                <c:ptCount val="6"/>
                <c:pt idx="0">
                  <c:v>255</c:v>
                </c:pt>
                <c:pt idx="1">
                  <c:v>254</c:v>
                </c:pt>
                <c:pt idx="2">
                  <c:v>253</c:v>
                </c:pt>
                <c:pt idx="3">
                  <c:v>252</c:v>
                </c:pt>
                <c:pt idx="4">
                  <c:v>251</c:v>
                </c:pt>
                <c:pt idx="5">
                  <c:v>250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2.99</c:v>
                </c:pt>
                <c:pt idx="1">
                  <c:v>2.6</c:v>
                </c:pt>
                <c:pt idx="2">
                  <c:v>1.63</c:v>
                </c:pt>
                <c:pt idx="3">
                  <c:v>0.86</c:v>
                </c:pt>
                <c:pt idx="4">
                  <c:v>0.44</c:v>
                </c:pt>
                <c:pt idx="5">
                  <c:v>0.22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star, измерено</c:v>
                </c:pt>
              </c:strCache>
            </c:strRef>
          </c:tx>
          <c:spPr>
            <a:solidFill>
              <a:srgbClr val="12263A"/>
            </a:solidFill>
          </c:spPr>
          <c:cat>
            <c:strRef>
              <c:f>Sheet1!$A$2:$A$7</c:f>
              <c:strCache>
                <c:ptCount val="6"/>
                <c:pt idx="0">
                  <c:v>255</c:v>
                </c:pt>
                <c:pt idx="1">
                  <c:v>254</c:v>
                </c:pt>
                <c:pt idx="2">
                  <c:v>253</c:v>
                </c:pt>
                <c:pt idx="3">
                  <c:v>252</c:v>
                </c:pt>
                <c:pt idx="4">
                  <c:v>251</c:v>
                </c:pt>
                <c:pt idx="5">
                  <c:v>250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3.0</c:v>
                </c:pt>
                <c:pt idx="1">
                  <c:v>2.61</c:v>
                </c:pt>
                <c:pt idx="2">
                  <c:v>1.84</c:v>
                </c:pt>
                <c:pt idx="3">
                  <c:v>0.77</c:v>
                </c:pt>
                <c:pt idx="4">
                  <c:v>0.44</c:v>
                </c:pt>
                <c:pt idx="5">
                  <c:v>0.16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ring, измерено</c:v>
                </c:pt>
              </c:strCache>
            </c:strRef>
          </c:tx>
          <c:spPr>
            <a:solidFill>
              <a:srgbClr val="1B998B"/>
            </a:solidFill>
          </c:spPr>
          <c:cat>
            <c:strRef>
              <c:f>Sheet1!$A$2:$A$7</c:f>
              <c:strCache>
                <c:ptCount val="6"/>
                <c:pt idx="0">
                  <c:v>255</c:v>
                </c:pt>
                <c:pt idx="1">
                  <c:v>254</c:v>
                </c:pt>
                <c:pt idx="2">
                  <c:v>253</c:v>
                </c:pt>
                <c:pt idx="3">
                  <c:v>252</c:v>
                </c:pt>
                <c:pt idx="4">
                  <c:v>251</c:v>
                </c:pt>
                <c:pt idx="5">
                  <c:v>250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3.0</c:v>
                </c:pt>
                <c:pt idx="1">
                  <c:v>2.51</c:v>
                </c:pt>
                <c:pt idx="2">
                  <c:v>1.69</c:v>
                </c:pt>
                <c:pt idx="3">
                  <c:v>0.8</c:v>
                </c:pt>
                <c:pt idx="4">
                  <c:v>0.24</c:v>
                </c:pt>
                <c:pt idx="5">
                  <c:v>0.35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100"/>
                  <a:t>номер bucket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solidFill>
              <a:srgbClr val="C9D3DA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.5"/>
          <c:min val="0.0"/>
        </c:scaling>
        <c:delete val="0"/>
        <c:axPos val="l"/>
        <c:majorGridlines>
          <c:spPr>
            <a:ln>
              <a:solidFill>
                <a:srgbClr val="C9D3DA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0.5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5B6770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Число RPC на lookup, % поисков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star (n=150)</c:v>
                </c:pt>
              </c:strCache>
            </c:strRef>
          </c:tx>
          <c:spPr>
            <a:solidFill>
              <a:srgbClr val="12263A"/>
            </a:solidFill>
          </c:spPr>
          <c:cat>
            <c:strRef>
              <c:f>Sheet1!$A$2:$A$6</c:f>
              <c:strCache>
                <c:ptCount val="5"/>
                <c:pt idx="0">
                  <c:v>4</c:v>
                </c:pt>
                <c:pt idx="1">
                  <c:v>5</c:v>
                </c:pt>
                <c:pt idx="2">
                  <c:v>6</c:v>
                </c:pt>
                <c:pt idx="3">
                  <c:v>7</c:v>
                </c:pt>
                <c:pt idx="4">
                  <c:v>8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29.3</c:v>
                </c:pt>
                <c:pt idx="1">
                  <c:v>34.0</c:v>
                </c:pt>
                <c:pt idx="2">
                  <c:v>14.0</c:v>
                </c:pt>
                <c:pt idx="3">
                  <c:v>20.7</c:v>
                </c:pt>
                <c:pt idx="4">
                  <c:v>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ring (n=150)</c:v>
                </c:pt>
              </c:strCache>
            </c:strRef>
          </c:tx>
          <c:spPr>
            <a:solidFill>
              <a:srgbClr val="1B998B"/>
            </a:solidFill>
          </c:spPr>
          <c:cat>
            <c:strRef>
              <c:f>Sheet1!$A$2:$A$6</c:f>
              <c:strCache>
                <c:ptCount val="5"/>
                <c:pt idx="0">
                  <c:v>4</c:v>
                </c:pt>
                <c:pt idx="1">
                  <c:v>5</c:v>
                </c:pt>
                <c:pt idx="2">
                  <c:v>6</c:v>
                </c:pt>
                <c:pt idx="3">
                  <c:v>7</c:v>
                </c:pt>
                <c:pt idx="4">
                  <c:v>8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42.7</c:v>
                </c:pt>
                <c:pt idx="1">
                  <c:v>29.3</c:v>
                </c:pt>
                <c:pt idx="2">
                  <c:v>19.3</c:v>
                </c:pt>
                <c:pt idx="3">
                  <c:v>8.7</c:v>
                </c:pt>
                <c:pt idx="4">
                  <c:v>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3DA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C9D3DA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5B6770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Здравствуйте. Тема работы — защищённая оверлейная сеть на основе пиринговых протоколов. Я реализовал узел такой сети: поиск узлов через Kademlia, защиту каналов TLS 1.3 и передачу сообщений через цепочку ретрансляторов с восстановлением после отказа, и проверил его экспериментально.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 — узел, который сам себя идентифицирует, находит других без каталога, защищает данные и переживает отказ промежуточного узла. Выбран упрощённый уровень: 15 узлов, ёмкость bucket 3, параллелизм поиска 3, три реплики, два ретранслятора. Продвинутый требует средств ограничения сети, которых на машине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Узел разделён на подсистемы, как требует задание: транспорт, идентичность и защита, DHT, туннели, прикладной сервис и интерфейс. Прикладной слой работает только через фасад. Соединения переиспользуются: одно TLS-рукопожатие на пару узлов, по нему мультиплексируются запросы и ячейки туннелей.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TCP не сохраняет границы сообщений, поэтому каждый кадр начинается 24-байтовым заголовком с длиной. Длина проверяется сразу после заголовка, до выделения буфера, — завышенная длина отклоняется. Формат payload — MessagePack: по замеру он меньше JSON и быстрее и JSON, и CBOR.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Главный риск маленькой сети — вырождение: если каждый знает всех, поиск через DHT теряет смысл. Я заранее посчитал ожидаемое заполнение bucket: в среднем 8,97 контакта из 14. Измерения на 75 узлах каждой схемы дали около 9 — прогноз подтвердился, у всех узлов таблица меньше N − 1.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Каждый узел публикует подписанную запись со своим адресом. Хранитель проверяет её полностью: привязку ключа к NodeID, подпись, срок и номер версии — откат отклоняется. Первая экспериментальная серия нашла реальный дефект: запись не находилась, если ближе к ключу оказались узлы, вошедшие позже. Я добавил механизм из оригинальной статьи — передачу записи новому ближайшему соседу.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Каналы защищены TLS 1.3 со взаимной аутентификацией. Сертификаты самоподписаны, но принимаются только если ключ даёт ожидаемый NodeID. Открытые HELLO-кадры подтверждаются хэшем внутри TLS — подмену посредником видно. Сообщение дополнительно шифруется сессией отправитель–получатель поверх туннеля, поэтому ретрансляторы видят только шифртекст. Это проверено отрицательными тестами и контрольным pcap.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Туннель строится по цепочке: каждый ретранслятор проверяет запрос и добавляет подписанное подтверждение, поэтому инициатор знает фактический маршрут. Если ретранслятор упал, сосед сразу сообщает об этом, и доставка восстанавливается за десятки миллисекунд. Если ретранслятор завис, отказ видно только по отсутствию подтверждений — около трёх с половиной секунд, это прямо следует из тайм-аутов.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Я различаю четыре графа: физическую достижимость — она полная, все процессы на одном компьютере; bootstrap-граф — кому какой адрес выдан; DHT-overlay — что реально лежит в таблицах; и маршрут туннеля. Звезда и кольцо — это схемы начального подключения, а не топологии. По каждой схеме пять холодных запусков, 300 поисков, по десять отказов ретранслятора на схему.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300 контрольных поисков нашли узел, которого не было в таблице инициатора, обычно за 5 запросов и 2 итерации — это согласуется с логарифмической оценкой. Все 80 сообщений доставлены через два ретранслятора. Сообщение по готовой сессии идёт около полутора миллисекунд, первое — около 15, то есть основная стоимость — установление сессии. Схема bootstrap на стоимость поиска не повлияла.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секунды при отказе узла DHT — это стек Windows: я отдельно замерил отклонение подключения к закрытому порту, оно занимает те же две секунды. Все выбросы я разобрал по журналам: это запуск процессов и общий процессор, а не алгоритм. Модель угроз сознательно не включает Sybil и Eclipse — это продвинутый уровень.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Итог: все 14 приёмочных проверок и все автотесты пройдены, сеть не использует каталог и не вырождается, данные защищены от перехвата и повтора, отказ ретранслятора обрабатывается автоматически. Всё воспроизводится одной командой. Спасибо, готов ответить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63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846820" y="1165860"/>
            <a:ext cx="1645920" cy="640080"/>
          </a:xfrm>
          <a:prstGeom prst="line">
            <a:avLst/>
          </a:prstGeom>
          <a:ln w="19050">
            <a:solidFill>
              <a:srgbClr val="3A55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8846820" y="1165860"/>
            <a:ext cx="731520" cy="1828800"/>
          </a:xfrm>
          <a:prstGeom prst="line">
            <a:avLst/>
          </a:prstGeom>
          <a:ln w="19050">
            <a:solidFill>
              <a:srgbClr val="3A55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492740" y="1805940"/>
            <a:ext cx="731520" cy="1737360"/>
          </a:xfrm>
          <a:prstGeom prst="line">
            <a:avLst/>
          </a:prstGeom>
          <a:ln w="19050">
            <a:solidFill>
              <a:srgbClr val="3A55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578340" y="2994660"/>
            <a:ext cx="1645920" cy="548640"/>
          </a:xfrm>
          <a:prstGeom prst="line">
            <a:avLst/>
          </a:prstGeom>
          <a:ln w="19050">
            <a:solidFill>
              <a:srgbClr val="3A55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>
            <a:off x="8481060" y="2994660"/>
            <a:ext cx="1097280" cy="1280160"/>
          </a:xfrm>
          <a:prstGeom prst="line">
            <a:avLst/>
          </a:prstGeom>
          <a:ln w="19050">
            <a:solidFill>
              <a:srgbClr val="3A55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481060" y="4274820"/>
            <a:ext cx="1828800" cy="731520"/>
          </a:xfrm>
          <a:prstGeom prst="line">
            <a:avLst/>
          </a:prstGeom>
          <a:ln w="19050">
            <a:solidFill>
              <a:srgbClr val="3A55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10309860" y="3543300"/>
            <a:ext cx="914400" cy="1463040"/>
          </a:xfrm>
          <a:prstGeom prst="line">
            <a:avLst/>
          </a:prstGeom>
          <a:ln w="19050">
            <a:solidFill>
              <a:srgbClr val="3A55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8595360" y="914400"/>
            <a:ext cx="502920" cy="502920"/>
          </a:xfrm>
          <a:prstGeom prst="ellipse">
            <a:avLst/>
          </a:prstGeom>
          <a:solidFill>
            <a:srgbClr val="F4A2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0" name="Oval 9"/>
          <p:cNvSpPr/>
          <p:nvPr/>
        </p:nvSpPr>
        <p:spPr>
          <a:xfrm>
            <a:off x="10241280" y="1554480"/>
            <a:ext cx="502920" cy="502920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1" name="Oval 10"/>
          <p:cNvSpPr/>
          <p:nvPr/>
        </p:nvSpPr>
        <p:spPr>
          <a:xfrm>
            <a:off x="9326880" y="2743200"/>
            <a:ext cx="502920" cy="502920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2" name="Oval 11"/>
          <p:cNvSpPr/>
          <p:nvPr/>
        </p:nvSpPr>
        <p:spPr>
          <a:xfrm>
            <a:off x="10972800" y="3291840"/>
            <a:ext cx="502920" cy="502920"/>
          </a:xfrm>
          <a:prstGeom prst="ellipse">
            <a:avLst/>
          </a:prstGeom>
          <a:solidFill>
            <a:srgbClr val="F4A2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3" name="Oval 12"/>
          <p:cNvSpPr/>
          <p:nvPr/>
        </p:nvSpPr>
        <p:spPr>
          <a:xfrm>
            <a:off x="8229600" y="4023360"/>
            <a:ext cx="502920" cy="502920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4" name="Oval 13"/>
          <p:cNvSpPr/>
          <p:nvPr/>
        </p:nvSpPr>
        <p:spPr>
          <a:xfrm>
            <a:off x="10058400" y="4754880"/>
            <a:ext cx="502920" cy="502920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1463040"/>
            <a:ext cx="7498079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mbria"/>
              </a:rPr>
              <a:t>Защищённая оверлейная сеть передачи данных на основе пиринговых протоколов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886200"/>
            <a:ext cx="7315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B8D8D3"/>
                </a:solidFill>
                <a:latin typeface="Calibri"/>
              </a:rPr>
              <a:t>Kademlia DHT · TLS 1.3 со взаимной аутентификацией · туннели через ретрансляторы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120640"/>
            <a:ext cx="7315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Курсовая работа · Вихарев Д.А., группа ИСБ-123</a:t>
            </a:r>
          </a:p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ВлГУ, кафедра информатики и защиты информации,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2263A"/>
                </a:solidFill>
                <a:latin typeface="Cambria"/>
              </a:rPr>
              <a:t>Цель и выбранный уровень</a:t>
            </a:r>
          </a:p>
        </p:txBody>
      </p:sp>
      <p:sp>
        <p:nvSpPr>
          <p:cNvPr id="3" name="Подзаголовок"/>
          <p:cNvSpPr txBox="1"/>
          <p:nvPr/>
        </p:nvSpPr>
        <p:spPr>
          <a:xfrm>
            <a:off x="548640" y="1078992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B6770"/>
                </a:solidFill>
                <a:latin typeface="Calibri"/>
              </a:rPr>
              <a:t>Узел децентрализованной сети без центрального каталога — упрощённый уровень выполнения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83080"/>
            <a:ext cx="457200" cy="457200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764792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2263A"/>
                </a:solidFill>
                <a:latin typeface="Calibri"/>
              </a:rPr>
              <a:t>Идентификация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084832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B6770"/>
                </a:solidFill>
                <a:latin typeface="Calibri"/>
              </a:rPr>
              <a:t>NodeID = SHA-256 от Ed25519-ключа, без центрального каталога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807208"/>
            <a:ext cx="457200" cy="457200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78892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2263A"/>
                </a:solidFill>
                <a:latin typeface="Calibri"/>
              </a:rPr>
              <a:t>Поиск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10896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B6770"/>
                </a:solidFill>
                <a:latin typeface="Calibri"/>
              </a:rPr>
              <a:t>Kademlia: k-bucket, итеративный lookup, подписанные записи с репликацией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831336"/>
            <a:ext cx="457200" cy="457200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813048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2263A"/>
                </a:solidFill>
                <a:latin typeface="Calibri"/>
              </a:rPr>
              <a:t>Защита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133088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B6770"/>
                </a:solidFill>
                <a:latin typeface="Calibri"/>
              </a:rPr>
              <a:t>TLS 1.3 mTLS на каждом звене и end-to-end поверх туннеля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855464"/>
            <a:ext cx="457200" cy="457200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837176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2263A"/>
                </a:solidFill>
                <a:latin typeface="Calibri"/>
              </a:rPr>
              <a:t>Отказоустойчивость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5157216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B6770"/>
                </a:solidFill>
                <a:latin typeface="Calibri"/>
              </a:rPr>
              <a:t>автоматическое перестроение туннеля после отказа ретранслятора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49440" y="1783080"/>
            <a:ext cx="4690872" cy="4023360"/>
          </a:xfrm>
          <a:prstGeom prst="roundRect">
            <a:avLst>
              <a:gd name="adj" fmla="val 8000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69480" y="2057400"/>
            <a:ext cx="2011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12263A"/>
                </a:solidFill>
                <a:latin typeface="Cambria"/>
              </a:rPr>
              <a:t>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2689352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770"/>
                </a:solidFill>
                <a:latin typeface="Calibri"/>
              </a:rPr>
              <a:t>узлов 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2057400"/>
            <a:ext cx="2011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1B998B"/>
                </a:solidFill>
                <a:latin typeface="Cambria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0" y="2689352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770"/>
                </a:solidFill>
                <a:latin typeface="Calibri"/>
              </a:rPr>
              <a:t>k (ёмкость bucket)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3474720"/>
            <a:ext cx="2011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12263A"/>
                </a:solidFill>
                <a:latin typeface="Cambria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80" y="4106672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770"/>
                </a:solidFill>
                <a:latin typeface="Calibri"/>
              </a:rPr>
              <a:t>ALPHA, 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0" y="3474720"/>
            <a:ext cx="2011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1B998B"/>
                </a:solidFill>
                <a:latin typeface="Cambria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0" y="4106672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770"/>
                </a:solidFill>
                <a:latin typeface="Calibri"/>
              </a:rPr>
              <a:t>ретранслятора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69480" y="4937760"/>
            <a:ext cx="4114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770"/>
                </a:solidFill>
                <a:latin typeface="Calibri"/>
              </a:rPr>
              <a:t>Продвинутому уровню нужны Docker/namespaces и netem — на рабочей машине (Windows) их нет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770"/>
                </a:solidFill>
                <a:latin typeface="Calibri"/>
              </a:rPr>
              <a:t>Вихарев Д.А., ИСБ-123 · Защищённая оверлейная P2P-сеть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77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2263A"/>
                </a:solidFill>
                <a:latin typeface="Cambria"/>
              </a:rPr>
              <a:t>Архитектура узла</a:t>
            </a:r>
          </a:p>
        </p:txBody>
      </p:sp>
      <p:sp>
        <p:nvSpPr>
          <p:cNvPr id="3" name="Подзаголовок"/>
          <p:cNvSpPr txBox="1"/>
          <p:nvPr/>
        </p:nvSpPr>
        <p:spPr>
          <a:xfrm>
            <a:off x="548640" y="1078992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B6770"/>
                </a:solidFill>
                <a:latin typeface="Calibri"/>
              </a:rPr>
              <a:t>Один процесс asyncio; подсистемы обращаются друг к другу только сверху вниз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6766560" cy="749808"/>
          </a:xfrm>
          <a:prstGeom prst="roundRect">
            <a:avLst>
              <a:gd name="adj" fmla="val 8000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500" b="0">
                <a:solidFill>
                  <a:srgbClr val="12263A"/>
                </a:solidFill>
                <a:latin typeface="Calibri"/>
              </a:rPr>
              <a:t>Интерфейс: консоль run / shell / ctl, управляющий порт с токеном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596896"/>
            <a:ext cx="6766560" cy="749808"/>
          </a:xfrm>
          <a:prstGeom prst="roundRect">
            <a:avLst>
              <a:gd name="adj" fmla="val 8000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500" b="0">
                <a:solidFill>
                  <a:srgbClr val="12263A"/>
                </a:solidFill>
                <a:latin typeface="Calibri"/>
              </a:rPr>
              <a:t>Прикладной сервис: сообщения, E2E TLS, message_id, восстановление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456432"/>
            <a:ext cx="3310128" cy="749808"/>
          </a:xfrm>
          <a:prstGeom prst="roundRect">
            <a:avLst>
              <a:gd name="adj" fmla="val 8000"/>
            </a:avLst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Туннели: BUILD, DATA/ACK, состояния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05072" y="3456432"/>
            <a:ext cx="3310128" cy="749808"/>
          </a:xfrm>
          <a:prstGeom prst="roundRect">
            <a:avLst>
              <a:gd name="adj" fmla="val 8000"/>
            </a:avLst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DHT: k-bucket, lookup, записи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315968"/>
            <a:ext cx="6766560" cy="749808"/>
          </a:xfrm>
          <a:prstGeom prst="roundRect">
            <a:avLst>
              <a:gd name="adj" fmla="val 8000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500" b="0">
                <a:solidFill>
                  <a:srgbClr val="12263A"/>
                </a:solidFill>
                <a:latin typeface="Calibri"/>
              </a:rPr>
              <a:t>Идентичность и защита: Ed25519, NodeID, TLS 1.3 mTLS, привязка к NodeID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175504"/>
            <a:ext cx="6766560" cy="749808"/>
          </a:xfrm>
          <a:prstGeom prst="roundRect">
            <a:avLst>
              <a:gd name="adj" fmla="val 8000"/>
            </a:avLst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Транспорт: TCP, кадр 24 байта, MessagePack-схемы, RPC по request_id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173736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2263A"/>
                </a:solidFill>
                <a:latin typeface="Calibri"/>
              </a:rPr>
              <a:t>Фасад узла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084832"/>
            <a:ext cx="3931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770"/>
                </a:solidFill>
                <a:latin typeface="Calibri"/>
              </a:rPr>
              <a:t>join, lookup_node, put_record, get_record, build_tunnel, send_via_tunnel — прикладной слой не трогает k-bucket и хранилище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306324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2263A"/>
                </a:solidFill>
                <a:latin typeface="Calibri"/>
              </a:rPr>
              <a:t>Пул соединений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3410712"/>
            <a:ext cx="3931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770"/>
                </a:solidFill>
                <a:latin typeface="Calibri"/>
              </a:rPr>
              <a:t>одно TLS-рукопожатие на пару узлов; по соединению идут и RPC, и ячейки туннелей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438912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2263A"/>
                </a:solidFill>
                <a:latin typeface="Calibri"/>
              </a:rPr>
              <a:t>Процессы-узлы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736592"/>
            <a:ext cx="3931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770"/>
                </a:solidFill>
                <a:latin typeface="Calibri"/>
              </a:rPr>
              <a:t>у каждого свой ключ, порт, таблица, хранилище и журнал (node.log + events.jsonl)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770"/>
                </a:solidFill>
                <a:latin typeface="Calibri"/>
              </a:rPr>
              <a:t>Вихарев Д.А., ИСБ-123 · Защищённая оверлейная P2P-сеть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77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2263A"/>
                </a:solidFill>
                <a:latin typeface="Cambria"/>
              </a:rPr>
              <a:t>Кадр и протокол</a:t>
            </a:r>
          </a:p>
        </p:txBody>
      </p:sp>
      <p:sp>
        <p:nvSpPr>
          <p:cNvPr id="3" name="Подзаголовок"/>
          <p:cNvSpPr txBox="1"/>
          <p:nvPr/>
        </p:nvSpPr>
        <p:spPr>
          <a:xfrm>
            <a:off x="548640" y="1078992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B6770"/>
                </a:solidFill>
                <a:latin typeface="Calibri"/>
              </a:rPr>
              <a:t>Собственное кадрирование поверх TCP: граница сообщения задаётся длиной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740664" cy="82296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version
1 Б</a:t>
            </a:r>
          </a:p>
        </p:txBody>
      </p:sp>
      <p:sp>
        <p:nvSpPr>
          <p:cNvPr id="5" name="Rectangle 4"/>
          <p:cNvSpPr/>
          <p:nvPr/>
        </p:nvSpPr>
        <p:spPr>
          <a:xfrm>
            <a:off x="1335024" y="1828800"/>
            <a:ext cx="740664" cy="82296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type
1 Б</a:t>
            </a:r>
          </a:p>
        </p:txBody>
      </p:sp>
      <p:sp>
        <p:nvSpPr>
          <p:cNvPr id="6" name="Rectangle 5"/>
          <p:cNvSpPr/>
          <p:nvPr/>
        </p:nvSpPr>
        <p:spPr>
          <a:xfrm>
            <a:off x="2121408" y="1828800"/>
            <a:ext cx="740664" cy="82296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flags
2 Б</a:t>
            </a:r>
          </a:p>
        </p:txBody>
      </p:sp>
      <p:sp>
        <p:nvSpPr>
          <p:cNvPr id="7" name="Rectangle 6"/>
          <p:cNvSpPr/>
          <p:nvPr/>
        </p:nvSpPr>
        <p:spPr>
          <a:xfrm>
            <a:off x="2907792" y="1828800"/>
            <a:ext cx="3493008" cy="82296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request_id
16 Б</a:t>
            </a:r>
          </a:p>
        </p:txBody>
      </p:sp>
      <p:sp>
        <p:nvSpPr>
          <p:cNvPr id="8" name="Rectangle 7"/>
          <p:cNvSpPr/>
          <p:nvPr/>
        </p:nvSpPr>
        <p:spPr>
          <a:xfrm>
            <a:off x="6446520" y="1828800"/>
            <a:ext cx="1527048" cy="82296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payload_length
4 Б</a:t>
            </a:r>
          </a:p>
        </p:txBody>
      </p:sp>
      <p:sp>
        <p:nvSpPr>
          <p:cNvPr id="9" name="Rectangle 8"/>
          <p:cNvSpPr/>
          <p:nvPr/>
        </p:nvSpPr>
        <p:spPr>
          <a:xfrm>
            <a:off x="8019288" y="1828800"/>
            <a:ext cx="3623767" cy="822960"/>
          </a:xfrm>
          <a:prstGeom prst="rect">
            <a:avLst/>
          </a:prstGeom>
          <a:solidFill>
            <a:srgbClr val="EEF3F6"/>
          </a:solidFill>
          <a:ln w="15875">
            <a:solidFill>
              <a:srgbClr val="C9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12263A"/>
                </a:solidFill>
                <a:latin typeface="Calibri"/>
              </a:rPr>
              <a:t>payload ≤ 65 536 Б
MessagePack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889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770"/>
                </a:solidFill>
                <a:latin typeface="Calibri"/>
              </a:rPr>
              <a:t>заголовок — 24 байта, сетевой порядок байтов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429000"/>
            <a:ext cx="3520440" cy="2377440"/>
          </a:xfrm>
          <a:prstGeom prst="roundRect">
            <a:avLst>
              <a:gd name="adj" fmla="val 8000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6118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2263A"/>
                </a:solidFill>
                <a:latin typeface="Calibri"/>
              </a:rPr>
              <a:t>Защита декодера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114800"/>
            <a:ext cx="31089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2263A"/>
                </a:solidFill>
                <a:latin typeface="Calibri"/>
              </a:rPr>
              <a:t>– длина проверяется до приёма payload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2263A"/>
                </a:solidFill>
                <a:latin typeface="Calibri"/>
              </a:rPr>
              <a:t>– частичные, склеенные и разрезанные кадры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2263A"/>
                </a:solidFill>
                <a:latin typeface="Calibri"/>
              </a:rPr>
              <a:t>– ошибка формата → ERROR и закрытие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79" y="3429000"/>
            <a:ext cx="3520440" cy="2377440"/>
          </a:xfrm>
          <a:prstGeom prst="roundRect">
            <a:avLst>
              <a:gd name="adj" fmla="val 8000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79" y="36118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2263A"/>
                </a:solidFill>
                <a:latin typeface="Calibri"/>
              </a:rPr>
              <a:t>21 тип сообщений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79" y="4114800"/>
            <a:ext cx="31089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2263A"/>
                </a:solidFill>
                <a:latin typeface="Calibri"/>
              </a:rPr>
              <a:t>– PING, FIND_NODE, STORE, FIND_VALUE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2263A"/>
                </a:solidFill>
                <a:latin typeface="Calibri"/>
              </a:rPr>
              <a:t>– SECURE_HELLO, TUNNEL_*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2263A"/>
                </a:solidFill>
                <a:latin typeface="Calibri"/>
              </a:rPr>
              <a:t>– APP_MESSAGE, APP_ACK, ERROR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18" y="3429000"/>
            <a:ext cx="3520440" cy="2377440"/>
          </a:xfrm>
          <a:prstGeom prst="roundRect">
            <a:avLst>
              <a:gd name="adj" fmla="val 8000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18" y="36118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2263A"/>
                </a:solidFill>
                <a:latin typeface="Calibri"/>
              </a:rPr>
              <a:t>Почему MessagePack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18" y="4114800"/>
            <a:ext cx="31089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2263A"/>
                </a:solidFill>
                <a:latin typeface="Calibri"/>
              </a:rPr>
              <a:t>– на 25–30 % меньше JSON с base64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2263A"/>
                </a:solidFill>
                <a:latin typeface="Calibri"/>
              </a:rPr>
              <a:t>– кодирование в 6–80 раз быстрее JSON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2263A"/>
                </a:solidFill>
                <a:latin typeface="Calibri"/>
              </a:rPr>
              <a:t>– строгие схемы, ext-типы запрещены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770"/>
                </a:solidFill>
                <a:latin typeface="Calibri"/>
              </a:rPr>
              <a:t>Вихарев Д.А., ИСБ-123 · Защищённая оверлейная P2P-сеть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77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2263A"/>
                </a:solidFill>
                <a:latin typeface="Cambria"/>
              </a:rPr>
              <a:t>Kademlia: DHT не вырождается при N = 15, k = 3</a:t>
            </a:r>
          </a:p>
        </p:txBody>
      </p:sp>
      <p:sp>
        <p:nvSpPr>
          <p:cNvPr id="3" name="Подзаголовок"/>
          <p:cNvSpPr txBox="1"/>
          <p:nvPr/>
        </p:nvSpPr>
        <p:spPr>
          <a:xfrm>
            <a:off x="548640" y="1078992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B6770"/>
                </a:solidFill>
                <a:latin typeface="Calibri"/>
              </a:rPr>
              <a:t>Узел знает ≈ 9 контактов из 14 — прогноз и измерение совпадают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457200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12263A"/>
                </a:solidFill>
                <a:latin typeface="Calibri"/>
              </a:rPr>
              <a:t>XOR-метрика: </a:t>
            </a:r>
            <a:r>
              <a:rPr sz="1500" b="0" i="0">
                <a:solidFill>
                  <a:srgbClr val="12263A"/>
                </a:solidFill>
                <a:latin typeface="Calibri"/>
              </a:rPr>
              <a:t>расстояние = NodeID ⊕ NodeID, 256 bucket</a:t>
            </a:r>
          </a:p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12263A"/>
                </a:solidFill>
                <a:latin typeface="Calibri"/>
              </a:rPr>
              <a:t>k-bucket: </a:t>
            </a:r>
            <a:r>
              <a:rPr sz="1500" b="0" i="0">
                <a:solidFill>
                  <a:srgbClr val="12263A"/>
                </a:solidFill>
                <a:latin typeface="Calibri"/>
              </a:rPr>
              <a:t>не более 3 контактов; живой давний контакт не вытесняется — сначала PING</a:t>
            </a:r>
          </a:p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12263A"/>
                </a:solidFill>
                <a:latin typeface="Calibri"/>
              </a:rPr>
              <a:t>Lookup: </a:t>
            </a:r>
            <a:r>
              <a:rPr sz="1500" b="0" i="0">
                <a:solidFill>
                  <a:srgbClr val="12263A"/>
                </a:solidFill>
                <a:latin typeface="Calibri"/>
              </a:rPr>
              <a:t>опрос до 3 кандидатов из окна k ближайших, пока все они не ответят</a:t>
            </a:r>
          </a:p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12263A"/>
                </a:solidFill>
                <a:latin typeface="Calibri"/>
              </a:rPr>
              <a:t>Прогноз: </a:t>
            </a:r>
            <a:r>
              <a:rPr sz="1500" b="0" i="0">
                <a:solidFill>
                  <a:srgbClr val="12263A"/>
                </a:solidFill>
                <a:latin typeface="Calibri"/>
              </a:rPr>
              <a:t>E[min(3, Bin(14, 2^−(j+1)))] по bucket — 8,97 контакта на узел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0" y="1691640"/>
          <a:ext cx="6153912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07492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770"/>
                </a:solidFill>
                <a:latin typeface="Calibri"/>
              </a:rPr>
              <a:t>Средний размер таблицы: 9,1 (star), 8,8 (ring); максимум 13 при N − 1 =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770"/>
                </a:solidFill>
                <a:latin typeface="Calibri"/>
              </a:rPr>
              <a:t>Вихарев Д.А., ИСБ-123 · Защищённая оверлейная P2P-сеть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77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2263A"/>
                </a:solidFill>
                <a:latin typeface="Cambria"/>
              </a:rPr>
              <a:t>Подписанные записи и репликация</a:t>
            </a:r>
          </a:p>
        </p:txBody>
      </p:sp>
      <p:sp>
        <p:nvSpPr>
          <p:cNvPr id="3" name="Подзаголовок"/>
          <p:cNvSpPr txBox="1"/>
          <p:nvPr/>
        </p:nvSpPr>
        <p:spPr>
          <a:xfrm>
            <a:off x="548640" y="1078992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B6770"/>
                </a:solidFill>
                <a:latin typeface="Calibri"/>
              </a:rPr>
              <a:t>Адрес узла находится через FIND_VALUE, а не из каталога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2263A"/>
                </a:solidFill>
                <a:latin typeface="Calibri"/>
              </a:rPr>
              <a:t>Проверка перед сохранением и использованием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34086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схема и размер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788920"/>
            <a:ext cx="384048" cy="384048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84378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NodeID = SHA-256(ключ)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91840"/>
            <a:ext cx="384048" cy="384048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34670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ключ хранения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794760"/>
            <a:ext cx="384048" cy="384048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84962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подпись Ed25519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297680"/>
            <a:ext cx="384048" cy="384048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35254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срок действия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4800600"/>
            <a:ext cx="384048" cy="384048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85546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sequence_number ≥ максимума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1783080"/>
            <a:ext cx="5239512" cy="1828800"/>
          </a:xfrm>
          <a:prstGeom prst="roundRect">
            <a:avLst>
              <a:gd name="adj" fmla="val 8000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1965960"/>
            <a:ext cx="47548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12263A"/>
                </a:solidFill>
                <a:latin typeface="Calibri"/>
              </a:rPr>
              <a:t>STORE на R = 3 ближайших, </a:t>
            </a:r>
            <a:r>
              <a:rPr sz="1500" b="0" i="0">
                <a:solidFill>
                  <a:srgbClr val="12263A"/>
                </a:solidFill>
                <a:latin typeface="Calibri"/>
              </a:rPr>
              <a:t>успех — от 2 подтверждений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12263A"/>
                </a:solidFill>
                <a:latin typeface="Calibri"/>
              </a:rPr>
              <a:t>Republish каждые 90 с </a:t>
            </a:r>
            <a:r>
              <a:rPr sz="1500" b="0" i="0">
                <a:solidFill>
                  <a:srgbClr val="12263A"/>
                </a:solidFill>
                <a:latin typeface="Calibri"/>
              </a:rPr>
              <a:t>(TTL 180 с) с новым номером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12263A"/>
                </a:solidFill>
                <a:latin typeface="Calibri"/>
              </a:rPr>
              <a:t>Откат и подмена </a:t>
            </a:r>
            <a:r>
              <a:rPr sz="1500" b="0" i="0">
                <a:solidFill>
                  <a:srgbClr val="12263A"/>
                </a:solidFill>
                <a:latin typeface="Calibri"/>
              </a:rPr>
              <a:t>отклоняются: ROLLBACK, SIGNATURE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3794760"/>
            <a:ext cx="5239512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4A2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3931920"/>
            <a:ext cx="47548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F4A259"/>
                </a:solidFill>
                <a:latin typeface="Calibri"/>
              </a:rPr>
              <a:t>Найдено экспериментом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2263A"/>
                </a:solidFill>
                <a:latin typeface="Calibri"/>
              </a:rPr>
              <a:t>Узлы, вошедшие позже и ставшие ближе к ключу, не имели записи до republish. Исправлено передачей записи новому ближайшему соседу (§2.5 статьи Kademlia) и учётом своей копии.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770"/>
                </a:solidFill>
                <a:latin typeface="Calibri"/>
              </a:rPr>
              <a:t>Вихарев Д.А., ИСБ-123 · Защищённая оверлейная P2P-сеть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77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2263A"/>
                </a:solidFill>
                <a:latin typeface="Cambria"/>
              </a:rPr>
              <a:t>Защита канала: TLS 1.3 с привязкой к NodeID</a:t>
            </a:r>
          </a:p>
        </p:txBody>
      </p:sp>
      <p:sp>
        <p:nvSpPr>
          <p:cNvPr id="3" name="Подзаголовок"/>
          <p:cNvSpPr txBox="1"/>
          <p:nvPr/>
        </p:nvSpPr>
        <p:spPr>
          <a:xfrm>
            <a:off x="548640" y="1078992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B6770"/>
                </a:solidFill>
                <a:latin typeface="Calibri"/>
              </a:rPr>
              <a:t>Самоподписанный сертификат принимается, только если его ключ хэшируется в ожидаемый NodeID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90195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2263A"/>
                </a:solidFill>
                <a:latin typeface="Calibri"/>
              </a:rPr>
              <a:t>SECURE_HELLO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770"/>
                </a:solidFill>
                <a:latin typeface="Calibri"/>
              </a:rPr>
              <a:t>NodeID, сертификат, nonce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90672" y="2304288"/>
            <a:ext cx="246888" cy="0"/>
          </a:xfrm>
          <a:prstGeom prst="line">
            <a:avLst/>
          </a:prstGeom>
          <a:ln w="25400">
            <a:solidFill>
              <a:srgbClr val="5B67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355848" y="17830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90195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2263A"/>
                </a:solidFill>
                <a:latin typeface="Calibri"/>
              </a:rPr>
              <a:t>Проверка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8728" y="228600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770"/>
                </a:solidFill>
                <a:latin typeface="Calibri"/>
              </a:rPr>
              <a:t>SHA-256(ключ) = NodeID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897880" y="2304288"/>
            <a:ext cx="246888" cy="0"/>
          </a:xfrm>
          <a:prstGeom prst="line">
            <a:avLst/>
          </a:prstGeom>
          <a:ln w="25400">
            <a:solidFill>
              <a:srgbClr val="5B67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163056" y="17830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45936" y="190195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TLS 1.3 mTLS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5936" y="228600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доверие одному сертификату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05088" y="2304288"/>
            <a:ext cx="246888" cy="0"/>
          </a:xfrm>
          <a:prstGeom prst="line">
            <a:avLst/>
          </a:prstGeom>
          <a:ln w="25400">
            <a:solidFill>
              <a:srgbClr val="5B67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970264" y="17830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53144" y="190195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2263A"/>
                </a:solidFill>
                <a:latin typeface="Calibri"/>
              </a:rPr>
              <a:t>Транскрипт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53144" y="228600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770"/>
                </a:solidFill>
                <a:latin typeface="Calibri"/>
              </a:rPr>
              <a:t>хэш HELLO внутри TLS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82980" y="3794760"/>
            <a:ext cx="2057400" cy="2286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040380" y="3794760"/>
            <a:ext cx="2057400" cy="2286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97780" y="3794760"/>
            <a:ext cx="2057400" cy="2286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82980" y="4754880"/>
            <a:ext cx="6172200" cy="228600"/>
          </a:xfrm>
          <a:prstGeom prst="rect">
            <a:avLst/>
          </a:prstGeom>
          <a:solidFill>
            <a:srgbClr val="F4A2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3566160"/>
            <a:ext cx="685800" cy="685800"/>
          </a:xfrm>
          <a:prstGeom prst="ellipse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24" name="Oval 23"/>
          <p:cNvSpPr/>
          <p:nvPr/>
        </p:nvSpPr>
        <p:spPr>
          <a:xfrm>
            <a:off x="640080" y="4526280"/>
            <a:ext cx="685800" cy="685800"/>
          </a:xfrm>
          <a:prstGeom prst="ellipse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25" name="Oval 24"/>
          <p:cNvSpPr/>
          <p:nvPr/>
        </p:nvSpPr>
        <p:spPr>
          <a:xfrm>
            <a:off x="2697480" y="3566160"/>
            <a:ext cx="685800" cy="685800"/>
          </a:xfrm>
          <a:prstGeom prst="ellipse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R1</a:t>
            </a:r>
          </a:p>
        </p:txBody>
      </p:sp>
      <p:sp>
        <p:nvSpPr>
          <p:cNvPr id="26" name="Oval 25"/>
          <p:cNvSpPr/>
          <p:nvPr/>
        </p:nvSpPr>
        <p:spPr>
          <a:xfrm>
            <a:off x="2697480" y="4526280"/>
            <a:ext cx="685800" cy="685800"/>
          </a:xfrm>
          <a:prstGeom prst="ellipse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R1</a:t>
            </a:r>
          </a:p>
        </p:txBody>
      </p:sp>
      <p:sp>
        <p:nvSpPr>
          <p:cNvPr id="27" name="Oval 26"/>
          <p:cNvSpPr/>
          <p:nvPr/>
        </p:nvSpPr>
        <p:spPr>
          <a:xfrm>
            <a:off x="4754880" y="3566160"/>
            <a:ext cx="685800" cy="685800"/>
          </a:xfrm>
          <a:prstGeom prst="ellipse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R2</a:t>
            </a:r>
          </a:p>
        </p:txBody>
      </p:sp>
      <p:sp>
        <p:nvSpPr>
          <p:cNvPr id="28" name="Oval 27"/>
          <p:cNvSpPr/>
          <p:nvPr/>
        </p:nvSpPr>
        <p:spPr>
          <a:xfrm>
            <a:off x="4754880" y="4526280"/>
            <a:ext cx="685800" cy="685800"/>
          </a:xfrm>
          <a:prstGeom prst="ellipse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R2</a:t>
            </a:r>
          </a:p>
        </p:txBody>
      </p:sp>
      <p:sp>
        <p:nvSpPr>
          <p:cNvPr id="29" name="Oval 28"/>
          <p:cNvSpPr/>
          <p:nvPr/>
        </p:nvSpPr>
        <p:spPr>
          <a:xfrm>
            <a:off x="6812280" y="3566160"/>
            <a:ext cx="685800" cy="685800"/>
          </a:xfrm>
          <a:prstGeom prst="ellipse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30" name="Oval 29"/>
          <p:cNvSpPr/>
          <p:nvPr/>
        </p:nvSpPr>
        <p:spPr>
          <a:xfrm>
            <a:off x="6812280" y="4526280"/>
            <a:ext cx="685800" cy="685800"/>
          </a:xfrm>
          <a:prstGeom prst="ellipse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31546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B998B"/>
                </a:solidFill>
                <a:latin typeface="Calibri"/>
              </a:rPr>
              <a:t>Каждое звено — свой TLS 1.3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303520"/>
            <a:ext cx="6583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4A259"/>
                </a:solidFill>
                <a:latin typeface="Calibri"/>
              </a:rPr>
              <a:t>E2E TLS 1.3 отправитель → получатель поверх туннеля: </a:t>
            </a:r>
            <a:r>
              <a:rPr sz="1400" b="0" i="0">
                <a:solidFill>
                  <a:srgbClr val="5B6770"/>
                </a:solidFill>
                <a:latin typeface="Calibri"/>
              </a:rPr>
              <a:t>ретранслятор видит только шифртекст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3246120"/>
            <a:ext cx="3749039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12263A"/>
                </a:solidFill>
                <a:latin typeface="Calibri"/>
              </a:rPr>
              <a:t>TLS 1.2 и 0-RTT </a:t>
            </a:r>
            <a:r>
              <a:rPr sz="1400" b="0" i="0">
                <a:solidFill>
                  <a:srgbClr val="12263A"/>
                </a:solidFill>
                <a:latin typeface="Calibri"/>
              </a:rPr>
              <a:t>отключены, билетов нет</a:t>
            </a:r>
          </a:p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12263A"/>
                </a:solidFill>
                <a:latin typeface="Calibri"/>
              </a:rPr>
              <a:t>Отрицательные тесты: </a:t>
            </a:r>
            <a:r>
              <a:rPr sz="1400" b="0" i="0">
                <a:solidFill>
                  <a:srgbClr val="12263A"/>
                </a:solidFill>
                <a:latin typeface="Calibri"/>
              </a:rPr>
              <a:t>подмена ключа, NodeID, ephemeral key, client random, nonce, шифртекста, повтор кадра</a:t>
            </a:r>
          </a:p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12263A"/>
                </a:solidFill>
                <a:latin typeface="Calibri"/>
              </a:rPr>
              <a:t>pcap: </a:t>
            </a:r>
            <a:r>
              <a:rPr sz="1400" b="0" i="0">
                <a:solidFill>
                  <a:srgbClr val="12263A"/>
                </a:solidFill>
                <a:latin typeface="Calibri"/>
              </a:rPr>
              <a:t>маркер сообщения не найден; контроль прибора — служебные поля видны без TLS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770"/>
                </a:solidFill>
                <a:latin typeface="Calibri"/>
              </a:rPr>
              <a:t>Вихарев Д.А., ИСБ-123 · Защищённая оверлейная P2P-сеть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77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2263A"/>
                </a:solidFill>
                <a:latin typeface="Cambria"/>
              </a:rPr>
              <a:t>Туннель и восстановление после отказа</a:t>
            </a:r>
          </a:p>
        </p:txBody>
      </p:sp>
      <p:sp>
        <p:nvSpPr>
          <p:cNvPr id="3" name="Подзаголовок"/>
          <p:cNvSpPr txBox="1"/>
          <p:nvPr/>
        </p:nvSpPr>
        <p:spPr>
          <a:xfrm>
            <a:off x="548640" y="1078992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B6770"/>
                </a:solidFill>
                <a:latin typeface="Calibri"/>
              </a:rPr>
              <a:t>Маршрут подтверждён подписями хопов; отказ ретранслятора — новый туннель без него</a:t>
            </a:r>
          </a:p>
        </p:txBody>
      </p:sp>
      <p:sp>
        <p:nvSpPr>
          <p:cNvPr id="4" name="Oval 3"/>
          <p:cNvSpPr/>
          <p:nvPr/>
        </p:nvSpPr>
        <p:spPr>
          <a:xfrm>
            <a:off x="822960" y="1874519"/>
            <a:ext cx="685800" cy="685800"/>
          </a:xfrm>
          <a:prstGeom prst="ellipse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554480" y="2217419"/>
            <a:ext cx="914400" cy="0"/>
          </a:xfrm>
          <a:prstGeom prst="line">
            <a:avLst/>
          </a:prstGeom>
          <a:ln w="25400">
            <a:solidFill>
              <a:srgbClr val="5B67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2514600" y="1874519"/>
            <a:ext cx="685800" cy="685800"/>
          </a:xfrm>
          <a:prstGeom prst="ellipse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R1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46120" y="2217419"/>
            <a:ext cx="914400" cy="0"/>
          </a:xfrm>
          <a:prstGeom prst="line">
            <a:avLst/>
          </a:prstGeom>
          <a:ln w="25400">
            <a:solidFill>
              <a:srgbClr val="5B67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206240" y="1874519"/>
            <a:ext cx="685800" cy="685800"/>
          </a:xfrm>
          <a:prstGeom prst="ellipse">
            <a:avLst/>
          </a:prstGeom>
          <a:solidFill>
            <a:srgbClr val="F4A2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R2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37760" y="2217419"/>
            <a:ext cx="914400" cy="0"/>
          </a:xfrm>
          <a:prstGeom prst="line">
            <a:avLst/>
          </a:prstGeom>
          <a:ln w="25400">
            <a:solidFill>
              <a:srgbClr val="5B67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5897880" y="1874519"/>
            <a:ext cx="685800" cy="685800"/>
          </a:xfrm>
          <a:prstGeom prst="ellipse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1490471"/>
            <a:ext cx="1051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4A259"/>
                </a:solidFill>
                <a:latin typeface="Calibri"/>
              </a:rPr>
              <a:t>отказ</a:t>
            </a:r>
          </a:p>
        </p:txBody>
      </p:sp>
      <p:sp>
        <p:nvSpPr>
          <p:cNvPr id="12" name="Oval 11"/>
          <p:cNvSpPr/>
          <p:nvPr/>
        </p:nvSpPr>
        <p:spPr>
          <a:xfrm>
            <a:off x="3337560" y="3108959"/>
            <a:ext cx="685800" cy="685800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R3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3611879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B998B"/>
                </a:solidFill>
                <a:latin typeface="Calibri"/>
              </a:rPr>
              <a:t>новый маршрут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063240" y="2606039"/>
            <a:ext cx="320040" cy="594360"/>
          </a:xfrm>
          <a:prstGeom prst="line">
            <a:avLst/>
          </a:prstGeom>
          <a:ln w="25400">
            <a:solidFill>
              <a:srgbClr val="1B99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4069080" y="2468879"/>
            <a:ext cx="1874520" cy="868680"/>
          </a:xfrm>
          <a:prstGeom prst="line">
            <a:avLst/>
          </a:prstGeom>
          <a:ln w="25400">
            <a:solidFill>
              <a:srgbClr val="1B99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4160520"/>
            <a:ext cx="5943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2263A"/>
                </a:solidFill>
                <a:latin typeface="Calibri"/>
              </a:rPr>
              <a:t>BUILD по цепочке → OK с подписанными подтверждениями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2263A"/>
                </a:solidFill>
                <a:latin typeface="Calibri"/>
              </a:rPr>
              <a:t>ACK каждой ячейки, зонд раз в секунду при простое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2263A"/>
                </a:solidFill>
                <a:latin typeface="Calibri"/>
              </a:rPr>
              <a:t>ACTIVE → DEGRADED → DEAD → новый маршрут без отказавшего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828800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1B998B"/>
                </a:solidFill>
                <a:latin typeface="Cambria"/>
              </a:rPr>
              <a:t>35 мс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409952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770"/>
                </a:solidFill>
                <a:latin typeface="Calibri"/>
              </a:rPr>
              <a:t>kill: доставка восстановлена
(медиана star, 5 инъекций)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1828800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4A259"/>
                </a:solidFill>
                <a:latin typeface="Cambria"/>
              </a:rPr>
              <a:t>3,8 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2409952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770"/>
                </a:solidFill>
                <a:latin typeface="Calibri"/>
              </a:rPr>
              <a:t>freeze: доставка восстановлена
(медиана star, 5 инъекций)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0" y="3657600"/>
            <a:ext cx="4782312" cy="2148840"/>
          </a:xfrm>
          <a:prstGeom prst="roundRect">
            <a:avLst>
              <a:gd name="adj" fmla="val 8000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6600" y="3794760"/>
            <a:ext cx="43891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2263A"/>
                </a:solidFill>
                <a:latin typeface="Calibri"/>
              </a:rPr>
              <a:t>kill: </a:t>
            </a:r>
            <a:r>
              <a:rPr sz="1400" b="0" i="0">
                <a:solidFill>
                  <a:srgbClr val="12263A"/>
                </a:solidFill>
                <a:latin typeface="Calibri"/>
              </a:rPr>
              <a:t>ОС закрывает сокеты, сосед сразу шлёт TUNNEL_CLOSE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2263A"/>
                </a:solidFill>
                <a:latin typeface="Calibri"/>
              </a:rPr>
              <a:t>freeze: </a:t>
            </a:r>
            <a:r>
              <a:rPr sz="1400" b="0" i="0">
                <a:solidFill>
                  <a:srgbClr val="12263A"/>
                </a:solidFill>
                <a:latin typeface="Calibri"/>
              </a:rPr>
              <a:t>соединения живы, видно только отсутствие ACK: 2 с тайм-аут + 1 с зонд ≈ 3,5 с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2263A"/>
                </a:solidFill>
                <a:latin typeface="Calibri"/>
              </a:rPr>
              <a:t>повтор </a:t>
            </a:r>
            <a:r>
              <a:rPr sz="1400" b="0" i="0">
                <a:solidFill>
                  <a:srgbClr val="12263A"/>
                </a:solidFill>
                <a:latin typeface="Calibri"/>
              </a:rPr>
              <a:t>с тем же message_id — получатель отвечает duplicate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770"/>
                </a:solidFill>
                <a:latin typeface="Calibri"/>
              </a:rPr>
              <a:t>Вихарев Д.А., ИСБ-123 · Защищённая оверлейная P2P-сеть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77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2263A"/>
                </a:solidFill>
                <a:latin typeface="Cambria"/>
              </a:rPr>
              <a:t>Стенд и план эксперимента</a:t>
            </a:r>
          </a:p>
        </p:txBody>
      </p:sp>
      <p:sp>
        <p:nvSpPr>
          <p:cNvPr id="3" name="Подзаголовок"/>
          <p:cNvSpPr txBox="1"/>
          <p:nvPr/>
        </p:nvSpPr>
        <p:spPr>
          <a:xfrm>
            <a:off x="548640" y="1078992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B6770"/>
                </a:solidFill>
                <a:latin typeface="Calibri"/>
              </a:rPr>
              <a:t>Фактор — схема bootstrap; остальное фиксировано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83080"/>
            <a:ext cx="457200" cy="457200"/>
          </a:xfrm>
          <a:prstGeom prst="ellipse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76479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2263A"/>
                </a:solidFill>
                <a:latin typeface="Calibri"/>
              </a:rPr>
              <a:t>Underlay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084832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770"/>
                </a:solidFill>
                <a:latin typeface="Calibri"/>
              </a:rPr>
              <a:t>15 процессов на 127.0.0.1, полная достижимость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743200"/>
            <a:ext cx="457200" cy="457200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72491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2263A"/>
                </a:solidFill>
                <a:latin typeface="Calibri"/>
              </a:rPr>
              <a:t>Bootstrap-граф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44952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770"/>
                </a:solidFill>
                <a:latin typeface="Calibri"/>
              </a:rPr>
              <a:t>star: все знают узел 1; ring: узел i знает i − 1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703320"/>
            <a:ext cx="457200" cy="457200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68503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2263A"/>
                </a:solidFill>
                <a:latin typeface="Calibri"/>
              </a:rPr>
              <a:t>DHT-overlay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005072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770"/>
                </a:solidFill>
                <a:latin typeface="Calibri"/>
              </a:rPr>
              <a:t>содержимое k-bucket после сходимости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663440"/>
            <a:ext cx="457200" cy="457200"/>
          </a:xfrm>
          <a:prstGeom prst="ellipse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64515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2263A"/>
                </a:solidFill>
                <a:latin typeface="Calibri"/>
              </a:rPr>
              <a:t>Туннель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4965192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770"/>
                </a:solidFill>
                <a:latin typeface="Calibri"/>
              </a:rPr>
              <a:t>I → R1 → R2 → D, подписи хопов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1783080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12263A"/>
                </a:solidFill>
                <a:latin typeface="Cambria"/>
              </a:rPr>
              <a:t>5 + 5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364232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770"/>
                </a:solidFill>
                <a:latin typeface="Calibri"/>
              </a:rPr>
              <a:t>холодных запусков star и 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1783080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1B998B"/>
                </a:solidFill>
                <a:latin typeface="Cambria"/>
              </a:rPr>
              <a:t>300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20" y="2364232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770"/>
                </a:solidFill>
                <a:latin typeface="Calibri"/>
              </a:rPr>
              <a:t>контрольных lookup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3246120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1B998B"/>
                </a:solidFill>
                <a:latin typeface="Cambria"/>
              </a:rPr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827272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770"/>
                </a:solidFill>
                <a:latin typeface="Calibri"/>
              </a:rPr>
              <a:t>инъекций отказа ретранслятора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3246120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12263A"/>
                </a:solidFill>
                <a:latin typeface="Cambria"/>
              </a:rPr>
              <a:t>60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3827272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770"/>
                </a:solidFill>
                <a:latin typeface="Calibri"/>
              </a:rPr>
              <a:t>сообщений по сессии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484632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770"/>
                </a:solidFill>
                <a:latin typeface="Calibri"/>
              </a:rPr>
              <a:t>N = 15, k = 3, ALPHA = 3, R = 3, TLS 1.3, одинаковые тайм-ауты; n, min, max, медиана, среднее; p95 — только при n ≥ 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770"/>
                </a:solidFill>
                <a:latin typeface="Calibri"/>
              </a:rPr>
              <a:t>Вихарев Д.А., ИСБ-123 · Защищённая оверлейная P2P-сеть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77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2263A"/>
                </a:solidFill>
                <a:latin typeface="Cambria"/>
              </a:rPr>
              <a:t>Результаты</a:t>
            </a:r>
          </a:p>
        </p:txBody>
      </p:sp>
      <p:sp>
        <p:nvSpPr>
          <p:cNvPr id="3" name="Подзаголовок"/>
          <p:cNvSpPr txBox="1"/>
          <p:nvPr/>
        </p:nvSpPr>
        <p:spPr>
          <a:xfrm>
            <a:off x="548640" y="1078992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B6770"/>
                </a:solidFill>
                <a:latin typeface="Calibri"/>
              </a:rPr>
              <a:t>Итоговая серия, версия кода 902f68c: сырые CSV/JSON → analyze.py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2263A"/>
                </a:solidFill>
                <a:latin typeface="Cambria"/>
              </a:rPr>
              <a:t>300/300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45792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770"/>
                </a:solidFill>
                <a:latin typeface="Calibri"/>
              </a:rPr>
              <a:t>lookup успешны,
цели не было в таблице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88920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998B"/>
                </a:solidFill>
                <a:latin typeface="Cambria"/>
              </a:rPr>
              <a:t>80/80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43072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770"/>
                </a:solidFill>
                <a:latin typeface="Calibri"/>
              </a:rPr>
              <a:t>сообщений доставлено
через 2 ретранслятора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86200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2263A"/>
                </a:solidFill>
                <a:latin typeface="Cambria"/>
              </a:rPr>
              <a:t>5 RPC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340352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770"/>
                </a:solidFill>
                <a:latin typeface="Calibri"/>
              </a:rPr>
              <a:t>медиана на lookup,
2 итерации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983480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998B"/>
                </a:solidFill>
                <a:latin typeface="Cambria"/>
              </a:rPr>
              <a:t>1,3 мс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437632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770"/>
                </a:solidFill>
                <a:latin typeface="Calibri"/>
              </a:rPr>
              <a:t>сообщение по сессии
(первое — ≈15 мс)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5120640" y="1691640"/>
          <a:ext cx="6519672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770"/>
                </a:solidFill>
                <a:latin typeface="Calibri"/>
              </a:rPr>
              <a:t>Вихарев Д.А., ИСБ-123 · Защищённая оверлейная P2P-сеть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77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2263A"/>
                </a:solidFill>
                <a:latin typeface="Cambria"/>
              </a:rPr>
              <a:t>Обсуждение и угрозы валидности</a:t>
            </a:r>
          </a:p>
        </p:txBody>
      </p:sp>
      <p:sp>
        <p:nvSpPr>
          <p:cNvPr id="3" name="Подзаголовок"/>
          <p:cNvSpPr txBox="1"/>
          <p:nvPr/>
        </p:nvSpPr>
        <p:spPr>
          <a:xfrm>
            <a:off x="548640" y="1078992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B6770"/>
                </a:solidFill>
                <a:latin typeface="Calibri"/>
              </a:rPr>
              <a:t>Что объясняет числа и где их нельзя переносить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5394960" cy="1828800"/>
          </a:xfrm>
          <a:prstGeom prst="roundRect">
            <a:avLst>
              <a:gd name="adj" fmla="val 8000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2057400"/>
            <a:ext cx="411480" cy="411480"/>
          </a:xfrm>
          <a:prstGeom prst="ellipse">
            <a:avLst/>
          </a:prstGeom>
          <a:solidFill>
            <a:srgbClr val="F4A2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05740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2263A"/>
                </a:solidFill>
                <a:latin typeface="Calibri"/>
              </a:rPr>
              <a:t>≈ 2 с на отказ узла DHT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514600"/>
            <a:ext cx="4389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770"/>
                </a:solidFill>
                <a:latin typeface="Calibri"/>
              </a:rPr>
              <a:t>Windows отклоняет подключение к закрытому порту через 2024–2043 мс (отдельный замер); алгоритм после этого сразу идёт к другим кандидатам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783080"/>
            <a:ext cx="5394960" cy="1828800"/>
          </a:xfrm>
          <a:prstGeom prst="roundRect">
            <a:avLst>
              <a:gd name="adj" fmla="val 8000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0" y="2057400"/>
            <a:ext cx="411480" cy="411480"/>
          </a:xfrm>
          <a:prstGeom prst="ellipse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205740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2263A"/>
                </a:solidFill>
                <a:latin typeface="Calibri"/>
              </a:rPr>
              <a:t>Один компьютер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5160" y="2514600"/>
            <a:ext cx="4389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770"/>
                </a:solidFill>
                <a:latin typeface="Calibri"/>
              </a:rPr>
              <a:t>нет сетевых задержек и потерь, процессы делят процессор: выбросы 119–179 мс — сразу после перезапуска узла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40480"/>
            <a:ext cx="5394960" cy="1828800"/>
          </a:xfrm>
          <a:prstGeom prst="roundRect">
            <a:avLst>
              <a:gd name="adj" fmla="val 8000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7240" y="4114800"/>
            <a:ext cx="411480" cy="411480"/>
          </a:xfrm>
          <a:prstGeom prst="ellipse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11480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2263A"/>
                </a:solidFill>
                <a:latin typeface="Calibri"/>
              </a:rPr>
              <a:t>Сходимость ≈ 9,8 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572000"/>
            <a:ext cx="4389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770"/>
                </a:solidFill>
                <a:latin typeface="Calibri"/>
              </a:rPr>
              <a:t>задаётся последовательным запуском процессов; star/run-04 = 14 с — два процесса стартовали по 1,9 с вместо 0,2 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840480"/>
            <a:ext cx="5394960" cy="1828800"/>
          </a:xfrm>
          <a:prstGeom prst="roundRect">
            <a:avLst>
              <a:gd name="adj" fmla="val 8000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00800" y="4114800"/>
            <a:ext cx="411480" cy="411480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411480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2263A"/>
                </a:solidFill>
                <a:latin typeface="Calibri"/>
              </a:rPr>
              <a:t>Вне модели угроз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60" y="4572000"/>
            <a:ext cx="4389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770"/>
                </a:solidFill>
                <a:latin typeface="Calibri"/>
              </a:rPr>
              <a:t>Sybil, Eclipse, глобальный наблюдатель, анонимность — не утверждаются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770"/>
                </a:solidFill>
                <a:latin typeface="Calibri"/>
              </a:rPr>
              <a:t>Вихарев Д.А., ИСБ-123 · Защищённая оверлейная P2P-сеть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77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6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mbria"/>
              </a:rPr>
              <a:t>Итоги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4A259"/>
                </a:solidFill>
                <a:latin typeface="Cambria"/>
              </a:rPr>
              <a:t>14/14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28600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B8D8D3"/>
                </a:solidFill>
                <a:latin typeface="Calibri"/>
              </a:rPr>
              <a:t>приёмочных проверок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7560" y="155448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mbria"/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37560" y="228600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B8D8D3"/>
                </a:solidFill>
                <a:latin typeface="Calibri"/>
              </a:rPr>
              <a:t>автотестов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55448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mbria"/>
              </a:rPr>
              <a:t>300/300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228600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B8D8D3"/>
                </a:solidFill>
                <a:latin typeface="Calibri"/>
              </a:rPr>
              <a:t>поисков через DHT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15400" y="155448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mbria"/>
              </a:rPr>
              <a:t>80/80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400" y="228600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B8D8D3"/>
                </a:solidFill>
                <a:latin typeface="Calibri"/>
              </a:rPr>
              <a:t>сообщений через туннель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00400"/>
            <a:ext cx="6858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Kademlia без центрального каталога, DHT не вырождается — прогноз 8,97 контакта подтверждён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TLS 1.3 mTLS с привязкой к NodeID и E2E-защита: открытого текста в pcap нет, повтор не исполняется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Отказ ретранслятора — автоматический новый маршрут; эксперимент нашёл и помог исправить дефект DHT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3200400"/>
            <a:ext cx="3776472" cy="2103120"/>
          </a:xfrm>
          <a:prstGeom prst="roundRect">
            <a:avLst>
              <a:gd name="adj" fmla="val 8000"/>
            </a:avLst>
          </a:prstGeom>
          <a:solidFill>
            <a:srgbClr val="1C36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92440" y="3383280"/>
            <a:ext cx="3383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Воспроизведение одной командой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F4A259"/>
                </a:solidFill>
                <a:latin typeface="Courier New"/>
              </a:rPr>
              <a:t>python scripts/run_acceptance.py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B8D8D3"/>
                </a:solidFill>
                <a:latin typeface="Calibri"/>
              </a:rPr>
              <a:t>сеть из 15 узлов, все сценарии, сырые данные в новом каталоге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Вихарев Д.А., ИСБ-123 · Защищённая оверлейная P2P-сеть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Защищённая оверлейная P2P-сеть</dc:title>
  <dc:subject/>
  <dc:creator>Вихарев Д.А.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