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Среднее заполнение bucket (75 узлов на схему)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</c:v>
                </c:pt>
              </c:strCache>
            </c:strRef>
          </c:tx>
          <c:spPr>
            <a:solidFill>
              <a:srgbClr val="C9D3DA"/>
            </a:solidFill>
          </c:spPr>
          <c:cat>
            <c:strRef>
              <c:f>Sheet1!$A$2:$A$7</c:f>
              <c:strCache>
                <c:ptCount val="6"/>
                <c:pt idx="0">
                  <c:v>255</c:v>
                </c:pt>
                <c:pt idx="1">
                  <c:v>254</c:v>
                </c:pt>
                <c:pt idx="2">
                  <c:v>253</c:v>
                </c:pt>
                <c:pt idx="3">
                  <c:v>252</c:v>
                </c:pt>
                <c:pt idx="4">
                  <c:v>251</c:v>
                </c:pt>
                <c:pt idx="5">
                  <c:v>250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2.99</c:v>
                </c:pt>
                <c:pt idx="1">
                  <c:v>2.6</c:v>
                </c:pt>
                <c:pt idx="2">
                  <c:v>1.63</c:v>
                </c:pt>
                <c:pt idx="3">
                  <c:v>0.86</c:v>
                </c:pt>
                <c:pt idx="4">
                  <c:v>0.44</c:v>
                </c:pt>
                <c:pt idx="5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star, измерено</c:v>
                </c:pt>
              </c:strCache>
            </c:strRef>
          </c:tx>
          <c:spPr>
            <a:solidFill>
              <a:srgbClr val="12263A"/>
            </a:solidFill>
          </c:spPr>
          <c:cat>
            <c:strRef>
              <c:f>Sheet1!$A$2:$A$7</c:f>
              <c:strCache>
                <c:ptCount val="6"/>
                <c:pt idx="0">
                  <c:v>255</c:v>
                </c:pt>
                <c:pt idx="1">
                  <c:v>254</c:v>
                </c:pt>
                <c:pt idx="2">
                  <c:v>253</c:v>
                </c:pt>
                <c:pt idx="3">
                  <c:v>252</c:v>
                </c:pt>
                <c:pt idx="4">
                  <c:v>251</c:v>
                </c:pt>
                <c:pt idx="5">
                  <c:v>250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3.0</c:v>
                </c:pt>
                <c:pt idx="1">
                  <c:v>2.56</c:v>
                </c:pt>
                <c:pt idx="2">
                  <c:v>1.57</c:v>
                </c:pt>
                <c:pt idx="3">
                  <c:v>1.07</c:v>
                </c:pt>
                <c:pt idx="4">
                  <c:v>0.48</c:v>
                </c:pt>
                <c:pt idx="5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ring, измерено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Sheet1!$A$2:$A$7</c:f>
              <c:strCache>
                <c:ptCount val="6"/>
                <c:pt idx="0">
                  <c:v>255</c:v>
                </c:pt>
                <c:pt idx="1">
                  <c:v>254</c:v>
                </c:pt>
                <c:pt idx="2">
                  <c:v>253</c:v>
                </c:pt>
                <c:pt idx="3">
                  <c:v>252</c:v>
                </c:pt>
                <c:pt idx="4">
                  <c:v>251</c:v>
                </c:pt>
                <c:pt idx="5">
                  <c:v>250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3.0</c:v>
                </c:pt>
                <c:pt idx="1">
                  <c:v>2.65</c:v>
                </c:pt>
                <c:pt idx="2">
                  <c:v>1.52</c:v>
                </c:pt>
                <c:pt idx="3">
                  <c:v>0.81</c:v>
                </c:pt>
                <c:pt idx="4">
                  <c:v>0.43</c:v>
                </c:pt>
                <c:pt idx="5">
                  <c:v>0.19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/>
                  <a:t>номер bucket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9D3D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  <c:min val="0.0"/>
        </c:scaling>
        <c:delete val="0"/>
        <c:axPos val="l"/>
        <c:majorGridlines>
          <c:spPr>
            <a:ln>
              <a:solidFill>
                <a:srgbClr val="C9D3D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0.5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7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Число RPC на lookup, % поисков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 (n=150)</c:v>
                </c:pt>
              </c:strCache>
            </c:strRef>
          </c:tx>
          <c:spPr>
            <a:solidFill>
              <a:srgbClr val="12263A"/>
            </a:solidFill>
          </c:spPr>
          <c:cat>
            <c:strRef>
              <c:f>Sheet1!$A$2:$A$6</c:f>
              <c:strCach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30.0</c:v>
                </c:pt>
                <c:pt idx="1">
                  <c:v>39.3</c:v>
                </c:pt>
                <c:pt idx="2">
                  <c:v>19.3</c:v>
                </c:pt>
                <c:pt idx="3">
                  <c:v>9.3</c:v>
                </c:pt>
                <c:pt idx="4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ring (n=150)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Sheet1!$A$2:$A$6</c:f>
              <c:strCach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19.3</c:v>
                </c:pt>
                <c:pt idx="1">
                  <c:v>40.0</c:v>
                </c:pt>
                <c:pt idx="2">
                  <c:v>26.0</c:v>
                </c:pt>
                <c:pt idx="3">
                  <c:v>12.7</c:v>
                </c:pt>
                <c:pt idx="4">
                  <c:v>2.0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DA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D3D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77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Тема работы — защищённая оверлейная сеть на основе пиринговых протоколов. Я реализовал узел такой сети: поиск узлов через Kademlia, защиту каналов TLS 1.3 и передачу сообщений через цепочку ретрансляторов с восстановлением после отказа, и проверил его экспериментально.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— узел, который сам себя идентифицирует, находит других без каталога, защищает данные и переживает отказ промежуточного узла. Выбран упрощённый уровень: 15 узлов, ёмкость bucket 3, параллелизм поиска 3, три реплики, два ретранслятора. Продвинутый требует средств ограничения сети, которых на машине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Узел разделён на подсистемы, как требует задание: транспорт, идентичность и защита, DHT, туннели, прикладной сервис и интерфейс. Прикладной слой работает только через фасад. Соединения переиспользуются: одно TLS-рукопожатие на пару узлов, по нему мультиплексируются запросы и ячейки туннелей.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TCP не сохраняет границы сообщений, поэтому каждый кадр начинается 24-байтовым заголовком с длиной. Длина проверяется сразу после заголовка, до выделения буфера, — завышенная длина отклоняется. Формат payload — MessagePack: по замеру он меньше JSON и быстрее и JSON, и CBOR.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риск маленькой сети — вырождение: если каждый знает всех, поиск через DHT теряет смысл. Я заранее посчитал ожидаемое заполнение bucket: в среднем 8,97 контакта из 14. Измерения на 75 узлах каждой схемы дали около 9 — прогноз подтвердился, у всех узлов таблица меньше N − 1.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узел публикует подписанную запись со своим адресом. Хранитель проверяет её полностью: привязку ключа к NodeID, подпись, срок и номер версии — откат отклоняется. Первая экспериментальная серия нашла реальный дефект: запись не находилась, если ближе к ключу оказались узлы, вошедшие позже. Я добавил механизм из оригинальной статьи — передачу записи новому ближайшему соседу.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Каналы защищены TLS 1.3 со взаимной аутентификацией. Сертификаты самоподписаны, но принимаются только если ключ даёт ожидаемый NodeID. Открытые HELLO-кадры подтверждаются хэшем внутри TLS — подмену посредником видно. Сообщение дополнительно шифруется сессией отправитель–получатель поверх туннеля, поэтому ретрансляторы видят только шифртекст. Это проверено отрицательными тестами и контрольным pcap.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Туннель строится по цепочке: каждый ретранслятор проверяет запрос и добавляет подписанное подтверждение, поэтому инициатор знает фактический маршрут. Если ретранслятор упал, сосед сразу сообщает об этом, и доставка восстанавливается за десятки миллисекунд. Если ретранслятор завис, отказ видно только по отсутствию подтверждений — около трёх с половиной секунд, это прямо следует из тайм-аутов.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различаю четыре графа: физическую достижимость — она полная, все процессы на одном компьютере; bootstrap-граф — кому какой адрес выдан; DHT-overlay — что реально лежит в таблицах; и маршрут туннеля. Звезда и кольцо — это схемы начального подключения, а не топологии. По каждой схеме пять холодных запусков, 300 поисков, по десять отказов ретранслятора на схему.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300 контрольных поисков нашли узел, которого не было в таблице инициатора, обычно за 5 запросов и 2 итерации — это согласуется с логарифмической оценкой. Все 80 сообщений доставлены через два ретранслятора. Сообщение по готовой сессии идёт около 2,4 мс, первое — около 23 мс, то есть основная стоимость — установление сессии. Схема bootstrap на стоимость поиска не повлияла.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секунды при отказе узла DHT — это стек Windows: я отдельно замерил отклонение подключения к закрытому порту, оно занимает те же две секунды. Выбросы я разобрал по журналам: это перезапуск узлов сценариями и общий процессор, а не алгоритм. Модель угроз сознательно не включает Sybil и Eclipse — это продвинутый уровень.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все 14 приёмочных проверок и все автотесты пройдены, сеть не использует каталог и не вырождается, данные защищены от перехвата и повтора, отказ ретранслятора обрабатывается автоматически. Всё воспроизводится одной командой. Спасибо,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846820" y="1165860"/>
            <a:ext cx="1645920" cy="64008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846820" y="1165860"/>
            <a:ext cx="731520" cy="182880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492740" y="1805940"/>
            <a:ext cx="731520" cy="173736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578340" y="2994660"/>
            <a:ext cx="1645920" cy="54864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8481060" y="2994660"/>
            <a:ext cx="1097280" cy="128016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81060" y="4274820"/>
            <a:ext cx="1828800" cy="73152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309860" y="3543300"/>
            <a:ext cx="914400" cy="1463040"/>
          </a:xfrm>
          <a:prstGeom prst="line">
            <a:avLst/>
          </a:prstGeom>
          <a:ln w="19050">
            <a:solidFill>
              <a:srgbClr val="3A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595360" y="914400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155448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274320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0972800" y="3291840"/>
            <a:ext cx="502920" cy="50292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402336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4754880"/>
            <a:ext cx="502920" cy="50292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463040"/>
            <a:ext cx="749807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Защищённая оверлейная сеть передачи данных на основе пиринговых протоколов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D8D3"/>
                </a:solidFill>
                <a:latin typeface="Calibri"/>
              </a:rPr>
              <a:t>Kademlia DHT · TLS 1.3 со взаимной аутентификацией · туннели через ретрансляторы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Курсовая работа · Вихарев Д.А., группа ИСБ-123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ВлГУ, кафедра информатики и защиты информации,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Цель и выбранный уровень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Узел децентрализованной сети без центрального каталога — упрощённый уровень выполнения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6479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Calibri"/>
              </a:rPr>
              <a:t>Идентификация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8483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NodeID = SHA-256 от Ed25519-ключа, без центрального каталога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Calibri"/>
              </a:rPr>
              <a:t>Поиск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Kademlia: k-bucket, итеративный lookup, подписанные записи с репликацией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1304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Calibri"/>
              </a:rPr>
              <a:t>Защита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33088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TLS 1.3 mTLS на каждом звене и end-to-end поверх туннеля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55464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3717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Calibri"/>
              </a:rPr>
              <a:t>Отказоустойчивость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57216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автоматическое перестроение туннеля после отказа ретранслятора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783080"/>
            <a:ext cx="4690872" cy="4023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0574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2263A"/>
                </a:solidFill>
                <a:latin typeface="Cambria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8935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узлов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574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B998B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68935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k (ёмкость bucket)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4747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2263A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1066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ALPHA,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4747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B998B"/>
                </a:solidFill>
                <a:latin typeface="Cambr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1066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ретранслятора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93776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Продвинутому уровню нужны Docker/namespaces и netem — на рабочей машине (Windows) их нет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Архитектура узла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Один процесс asyncio; подсистемы обращаются друг к другу только сверху вниз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766560" cy="749808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 b="0">
                <a:solidFill>
                  <a:srgbClr val="12263A"/>
                </a:solidFill>
                <a:latin typeface="Calibri"/>
              </a:rPr>
              <a:t>Интерфейс: консоль run / shell / ctl, управляющий порт с токеном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96896"/>
            <a:ext cx="6766560" cy="749808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 b="0">
                <a:solidFill>
                  <a:srgbClr val="12263A"/>
                </a:solidFill>
                <a:latin typeface="Calibri"/>
              </a:rPr>
              <a:t>Прикладной сервис: сообщения, E2E TLS, message_id, восстановление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56432"/>
            <a:ext cx="3310128" cy="74980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Туннели: BUILD, DATA/ACK, состояния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5072" y="3456432"/>
            <a:ext cx="3310128" cy="749808"/>
          </a:xfrm>
          <a:prstGeom prst="roundRect">
            <a:avLst>
              <a:gd name="adj" fmla="val 8000"/>
            </a:avLst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DHT: k-bucket, lookup, записи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15968"/>
            <a:ext cx="6766560" cy="749808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 b="0">
                <a:solidFill>
                  <a:srgbClr val="12263A"/>
                </a:solidFill>
                <a:latin typeface="Calibri"/>
              </a:rPr>
              <a:t>Идентичность и защита: Ed25519, NodeID, TLS 1.3 mTLS, привязка к NodeID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75504"/>
            <a:ext cx="6766560" cy="749808"/>
          </a:xfrm>
          <a:prstGeom prst="roundRect">
            <a:avLst>
              <a:gd name="adj" fmla="val 8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Транспорт: TCP, кадр 24 байта, MessagePack-схемы, RPC по request_id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373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Фасад узла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084832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join, lookup_node, put_record, get_record, build_tunnel, send_via_tunnel — прикладной слой не трогает k-bucket и хранилище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0632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Пул соединений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410712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одно TLS-рукопожатие на пару узлов; по соединению идут и RPC, и ячейки туннелей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891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Процессы-узлы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36592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у каждого свой ключ, порт, таблица, хранилище и журнал (node.log + events.jsonl)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Кадр и протокол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Собственное кадрирование поверх TCP: граница сообщения задаётся длиной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740664" cy="8229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version
1 Б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5024" y="1828800"/>
            <a:ext cx="740664" cy="8229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type
1 Б</a:t>
            </a:r>
          </a:p>
        </p:txBody>
      </p:sp>
      <p:sp>
        <p:nvSpPr>
          <p:cNvPr id="6" name="Rectangle 5"/>
          <p:cNvSpPr/>
          <p:nvPr/>
        </p:nvSpPr>
        <p:spPr>
          <a:xfrm>
            <a:off x="2121408" y="1828800"/>
            <a:ext cx="740664" cy="8229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flags
2 Б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828800"/>
            <a:ext cx="3493008" cy="82296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request_id
16 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828800"/>
            <a:ext cx="1527048" cy="82296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payload_length
4 Б</a:t>
            </a:r>
          </a:p>
        </p:txBody>
      </p:sp>
      <p:sp>
        <p:nvSpPr>
          <p:cNvPr id="9" name="Rectangle 8"/>
          <p:cNvSpPr/>
          <p:nvPr/>
        </p:nvSpPr>
        <p:spPr>
          <a:xfrm>
            <a:off x="8019288" y="1828800"/>
            <a:ext cx="3623767" cy="822960"/>
          </a:xfrm>
          <a:prstGeom prst="rect">
            <a:avLst/>
          </a:prstGeom>
          <a:solidFill>
            <a:srgbClr val="EEF3F6"/>
          </a:solidFill>
          <a:ln w="15875">
            <a:solidFill>
              <a:srgbClr val="C9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2263A"/>
                </a:solidFill>
                <a:latin typeface="Calibri"/>
              </a:rPr>
              <a:t>payload ≤ 65 536 Б
MessagePack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заголовок — 24 байта, сетевой порядок байтов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11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Защита декодера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длина проверяется до приёма payload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частичные, склеенные и разрезанные кадры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ошибка формата → ERROR и закрытие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34290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3611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21 тип сообщений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41148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PING, FIND_NODE, STORE, FIND_VALUE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SECURE_HELLO, TUNNEL_*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APP_MESSAGE, APP_ACK,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8" y="342900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8" y="3611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Почему MessagePack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411480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на 25–30 % меньше JSON с base64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кодирование в 6–80 раз быстрее JSON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– строгие схемы, ext-типы запрещены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Kademlia: DHT не вырождается при N = 15, k = 3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Узел знает ≈ 9 контактов из 14 — прогноз и измерение совпадают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45720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XOR-метрика: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расстояние = NodeID ⊕ NodeID, 256 bucket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k-bucket: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не более 3 контактов; живой давний контакт не вытесняется — сначала PING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Lookup: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опрос до 3 кандидатов из окна k ближайших, пока все они не ответят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Прогноз: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E[min(3, Bin(14, 2^−(j+1)))] по bucket — 8,97 контакта на узел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0" y="1691640"/>
          <a:ext cx="6153912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74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Средний размер таблицы: 9,1 (star), 8,8 (ring); максимум 12 при N − 1 =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Подписанные записи и репликация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Адрес узла находится через FIND_VALUE, а не из каталога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Проверка перед сохранением и использованием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408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схема и размер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4378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NodeID = SHA-256(ключ)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4670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ключ хранения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962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подпись Ed25519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525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срок действия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554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2263A"/>
                </a:solidFill>
                <a:latin typeface="Calibri"/>
              </a:rPr>
              <a:t>sequence_number ≥ максимума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83080"/>
            <a:ext cx="5239512" cy="18288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6596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STORE на R = 3 ближайших,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успех — от 2 подтверждений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Republish каждые 90 с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(TTL 180 с) с новым номером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2263A"/>
                </a:solidFill>
                <a:latin typeface="Calibri"/>
              </a:rPr>
              <a:t>Откат и подмена </a:t>
            </a:r>
            <a:r>
              <a:rPr sz="1500" b="0" i="0">
                <a:solidFill>
                  <a:srgbClr val="12263A"/>
                </a:solidFill>
                <a:latin typeface="Calibri"/>
              </a:rPr>
              <a:t>отклоняются: ROLLBACK, SIGNATURE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94760"/>
            <a:ext cx="5239512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4A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4A259"/>
                </a:solidFill>
                <a:latin typeface="Calibri"/>
              </a:rPr>
              <a:t>Найдено экспериментом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2263A"/>
                </a:solidFill>
                <a:latin typeface="Calibri"/>
              </a:rPr>
              <a:t>Узлы, вошедшие позже и ставшие ближе к ключу, не имели записи до republish. Исправлено передачей записи новому ближайшему соседу (§2.5 статьи Kademlia) и учётом своей копии.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Защита канала: TLS 1.3 с привязкой к NodeID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Самоподписанный сертификат принимается, только если его ключ хэшируется в ожидаемый NodeID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263A"/>
                </a:solidFill>
                <a:latin typeface="Calibri"/>
              </a:rPr>
              <a:t>SECURE_HELLO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NodeID, сертификат, nonce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0672" y="230428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55848" y="17830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263A"/>
                </a:solidFill>
                <a:latin typeface="Calibri"/>
              </a:rPr>
              <a:t>Проверка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SHA-256(ключ) = NodeID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230428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3056" y="17830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TLS 1.3 mTLS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доверие одному сертификату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5088" y="2304288"/>
            <a:ext cx="246888" cy="0"/>
          </a:xfrm>
          <a:prstGeom prst="line">
            <a:avLst/>
          </a:prstGeom>
          <a:ln w="254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70264" y="178308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263A"/>
                </a:solidFill>
                <a:latin typeface="Calibri"/>
              </a:rPr>
              <a:t>Транскрипт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2860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хэш HELLO внутри TLS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" y="3794760"/>
            <a:ext cx="2057400" cy="2286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40380" y="3794760"/>
            <a:ext cx="2057400" cy="2286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7780" y="3794760"/>
            <a:ext cx="2057400" cy="2286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" y="4754880"/>
            <a:ext cx="6172200" cy="228600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56616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52628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5" name="Oval 24"/>
          <p:cNvSpPr/>
          <p:nvPr/>
        </p:nvSpPr>
        <p:spPr>
          <a:xfrm>
            <a:off x="2697480" y="356616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26" name="Oval 25"/>
          <p:cNvSpPr/>
          <p:nvPr/>
        </p:nvSpPr>
        <p:spPr>
          <a:xfrm>
            <a:off x="2697480" y="452628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0" y="356616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28" name="Oval 27"/>
          <p:cNvSpPr/>
          <p:nvPr/>
        </p:nvSpPr>
        <p:spPr>
          <a:xfrm>
            <a:off x="4754880" y="452628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29" name="Oval 28"/>
          <p:cNvSpPr/>
          <p:nvPr/>
        </p:nvSpPr>
        <p:spPr>
          <a:xfrm>
            <a:off x="6812280" y="356616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Oval 29"/>
          <p:cNvSpPr/>
          <p:nvPr/>
        </p:nvSpPr>
        <p:spPr>
          <a:xfrm>
            <a:off x="6812280" y="4526280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998B"/>
                </a:solidFill>
                <a:latin typeface="Calibri"/>
              </a:rPr>
              <a:t>Каждое звено — свой TLS 1.3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4A259"/>
                </a:solidFill>
                <a:latin typeface="Calibri"/>
              </a:rPr>
              <a:t>E2E TLS 1.3 отправитель → получатель поверх туннеля: </a:t>
            </a:r>
            <a:r>
              <a:rPr sz="1400" b="0" i="0">
                <a:solidFill>
                  <a:srgbClr val="5B6770"/>
                </a:solidFill>
                <a:latin typeface="Calibri"/>
              </a:rPr>
              <a:t>ретранслятор видит только шифртекст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246120"/>
            <a:ext cx="374903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2263A"/>
                </a:solidFill>
                <a:latin typeface="Calibri"/>
              </a:rPr>
              <a:t>TLS 1.2 и 0-RTT </a:t>
            </a:r>
            <a:r>
              <a:rPr sz="1400" b="0" i="0">
                <a:solidFill>
                  <a:srgbClr val="12263A"/>
                </a:solidFill>
                <a:latin typeface="Calibri"/>
              </a:rPr>
              <a:t>отключены, билетов нет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2263A"/>
                </a:solidFill>
                <a:latin typeface="Calibri"/>
              </a:rPr>
              <a:t>Отрицательные тесты: </a:t>
            </a:r>
            <a:r>
              <a:rPr sz="1400" b="0" i="0">
                <a:solidFill>
                  <a:srgbClr val="12263A"/>
                </a:solidFill>
                <a:latin typeface="Calibri"/>
              </a:rPr>
              <a:t>подмена ключа, NodeID, ephemeral key, client random, nonce, шифртекста, повтор кадра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2263A"/>
                </a:solidFill>
                <a:latin typeface="Calibri"/>
              </a:rPr>
              <a:t>pcap: </a:t>
            </a:r>
            <a:r>
              <a:rPr sz="1400" b="0" i="0">
                <a:solidFill>
                  <a:srgbClr val="12263A"/>
                </a:solidFill>
                <a:latin typeface="Calibri"/>
              </a:rPr>
              <a:t>маркер сообщения не найден; контроль прибора — служебные поля видны без TLS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Туннель и восстановление после отказа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Маршрут подтверждён подписями хопов; отказ ретранслятора — новый туннель без него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74519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217419"/>
            <a:ext cx="914400" cy="0"/>
          </a:xfrm>
          <a:prstGeom prst="line">
            <a:avLst/>
          </a:prstGeom>
          <a:ln w="254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514600" y="1874519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2217419"/>
            <a:ext cx="914400" cy="0"/>
          </a:xfrm>
          <a:prstGeom prst="line">
            <a:avLst/>
          </a:prstGeom>
          <a:ln w="254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206240" y="1874519"/>
            <a:ext cx="685800" cy="68580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2217419"/>
            <a:ext cx="914400" cy="0"/>
          </a:xfrm>
          <a:prstGeom prst="line">
            <a:avLst/>
          </a:prstGeom>
          <a:ln w="254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97880" y="1874519"/>
            <a:ext cx="685800" cy="6858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90471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4A259"/>
                </a:solidFill>
                <a:latin typeface="Calibri"/>
              </a:rPr>
              <a:t>отказ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3108959"/>
            <a:ext cx="685800" cy="6858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118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998B"/>
                </a:solidFill>
                <a:latin typeface="Calibri"/>
              </a:rPr>
              <a:t>новый маршрут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606039"/>
            <a:ext cx="320040" cy="594360"/>
          </a:xfrm>
          <a:prstGeom prst="line">
            <a:avLst/>
          </a:prstGeom>
          <a:ln w="25400">
            <a:solidFill>
              <a:srgbClr val="1B99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69080" y="2468879"/>
            <a:ext cx="1874520" cy="868680"/>
          </a:xfrm>
          <a:prstGeom prst="line">
            <a:avLst/>
          </a:prstGeom>
          <a:ln w="25400">
            <a:solidFill>
              <a:srgbClr val="1B99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16052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2263A"/>
                </a:solidFill>
                <a:latin typeface="Calibri"/>
              </a:rPr>
              <a:t>BUILD по цепочке → OK с подписанными подтверждениями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2263A"/>
                </a:solidFill>
                <a:latin typeface="Calibri"/>
              </a:rPr>
              <a:t>ACK каждой ячейки, зонд раз в секунду при простое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2263A"/>
                </a:solidFill>
                <a:latin typeface="Calibri"/>
              </a:rPr>
              <a:t>ACTIVE → DEGRADED → DEAD → новый маршрут без отказавшего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288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B998B"/>
                </a:solidFill>
                <a:latin typeface="Cambria"/>
              </a:rPr>
              <a:t>48 мс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0995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kill: доставка восстановлена
(медиана star, 5 инъекций)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4A259"/>
                </a:solidFill>
                <a:latin typeface="Cambria"/>
              </a:rPr>
              <a:t>3,8 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0995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freeze: доставка восстановлена
(медиана star, 5 инъекций)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657600"/>
            <a:ext cx="4782312" cy="21488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794760"/>
            <a:ext cx="4389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263A"/>
                </a:solidFill>
                <a:latin typeface="Calibri"/>
              </a:rPr>
              <a:t>kill: </a:t>
            </a:r>
            <a:r>
              <a:rPr sz="1400" b="0" i="0">
                <a:solidFill>
                  <a:srgbClr val="12263A"/>
                </a:solidFill>
                <a:latin typeface="Calibri"/>
              </a:rPr>
              <a:t>ОС закрывает сокеты, сосед сразу шлёт TUNNEL_CLOSE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263A"/>
                </a:solidFill>
                <a:latin typeface="Calibri"/>
              </a:rPr>
              <a:t>freeze: </a:t>
            </a:r>
            <a:r>
              <a:rPr sz="1400" b="0" i="0">
                <a:solidFill>
                  <a:srgbClr val="12263A"/>
                </a:solidFill>
                <a:latin typeface="Calibri"/>
              </a:rPr>
              <a:t>соединения живы, видно только отсутствие ACK: 2 с тайм-аут + зонд и такт контроля = 3,0–3,6 с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2263A"/>
                </a:solidFill>
                <a:latin typeface="Calibri"/>
              </a:rPr>
              <a:t>повтор </a:t>
            </a:r>
            <a:r>
              <a:rPr sz="1400" b="0" i="0">
                <a:solidFill>
                  <a:srgbClr val="12263A"/>
                </a:solidFill>
                <a:latin typeface="Calibri"/>
              </a:rPr>
              <a:t>с тем же message_id — получатель отвечает 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Стенд и план эксперимента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Фактор — схема bootstrap; остальное фиксировано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647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Underlay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848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15 процессов на 127.0.0.1, полная достижимость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Bootstrap-граф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449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star: все знают узел 1; ring: узел i знает i − 1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8503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DHT-overlay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050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содержимое k-bucket после сходимости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451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Туннель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651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I → R1 → R2 → D, подписи хопов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2263A"/>
                </a:solidFill>
                <a:latin typeface="Cambria"/>
              </a:rPr>
              <a:t>5 + 5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6423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холодных запусков star и 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7830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B998B"/>
                </a:solidFill>
                <a:latin typeface="Cambria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36423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контрольных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B998B"/>
                </a:solidFill>
                <a:latin typeface="Cambria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2727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инъекций отказа ретранслятора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2461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2263A"/>
                </a:solidFill>
                <a:latin typeface="Cambria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82727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сообщений по сессии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463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N = 15, k = 3, ALPHA = 3, R = 3, TLS 1.3, одинаковые тайм-ауты; n, min, max, медиана, среднее; p95 — только при n ≥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Результаты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Итоговая серия, версия кода 5ebcc62: сырые CSV/JSON → analyze.py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263A"/>
                </a:solidFill>
                <a:latin typeface="Cambria"/>
              </a:rPr>
              <a:t>300/300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5792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lookup успешны,
цели не было в таблице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998B"/>
                </a:solidFill>
                <a:latin typeface="Cambria"/>
              </a:rPr>
              <a:t>80/80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3072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сообщений доставлено
через 2 ретранслятора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263A"/>
                </a:solidFill>
                <a:latin typeface="Cambria"/>
              </a:rPr>
              <a:t>5 RPC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0352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медиана на lookup,
2 итерации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998B"/>
                </a:solidFill>
                <a:latin typeface="Cambria"/>
              </a:rPr>
              <a:t>2,4 мс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37632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770"/>
                </a:solidFill>
                <a:latin typeface="Calibri"/>
              </a:rPr>
              <a:t>сообщение по сессии
(первое — 23 мс)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120640" y="1691640"/>
          <a:ext cx="6519672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263A"/>
                </a:solidFill>
                <a:latin typeface="Cambria"/>
              </a:rPr>
              <a:t>Обсуждение и угрозы валидности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Что объясняет числа и где их нельзя переносить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≈ 2 с на отказ узла DHT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Windows отклоняет подключение к закрытому порту через 2024–2043 мс (отдельный замер); алгоритм после этого сразу идёт к другим кандидатам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057400"/>
            <a:ext cx="411480" cy="41148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0574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Один компьютер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5146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нет сетевых задержек, процессы делят процессор с другими приложениями: сообщение по сессии 1,4–3,0 мс в разных прогонах одного кода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Сходимость ≈ 9,8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задаётся последовательным запуском 15 процессов (паузы 0,3 с); различие star и ring меньше разброса между запусками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4114800"/>
            <a:ext cx="411480" cy="41148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114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Calibri"/>
              </a:rPr>
              <a:t>Вне модели угроз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572000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Sybil, Eclipse, глобальный наблюдатель, анонимность — не утверждаются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4A259"/>
                </a:solidFill>
                <a:latin typeface="Cambria"/>
              </a:rPr>
              <a:t>14/14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8D8D3"/>
                </a:solidFill>
                <a:latin typeface="Calibri"/>
              </a:rPr>
              <a:t>приёмочных проверок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554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8D8D3"/>
                </a:solidFill>
                <a:latin typeface="Calibri"/>
              </a:rPr>
              <a:t>автотестов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300/300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8D8D3"/>
                </a:solidFill>
                <a:latin typeface="Calibri"/>
              </a:rPr>
              <a:t>поисков через DHT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54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80/80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8D8D3"/>
                </a:solidFill>
                <a:latin typeface="Calibri"/>
              </a:rPr>
              <a:t>сообщений через туннель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6858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Kademlia без центрального каталога, DHT не вырождается — прогноз 8,97 контакта подтверждён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TLS 1.3 mTLS с привязкой к NodeID и E2E-защита: открытого текста в pcap нет, повтор не исполняется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Отказ ретранслятора — автоматический новый маршрут; эксперимент нашёл и помог исправить дефект DHT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200400"/>
            <a:ext cx="3776472" cy="2103120"/>
          </a:xfrm>
          <a:prstGeom prst="roundRect">
            <a:avLst>
              <a:gd name="adj" fmla="val 8000"/>
            </a:avLst>
          </a:prstGeom>
          <a:solidFill>
            <a:srgbClr val="1C3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38328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Воспроизведение одной командой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F4A259"/>
                </a:solidFill>
                <a:latin typeface="Courier New"/>
              </a:rPr>
              <a:t>python scripts/run_acceptance.py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B8D8D3"/>
                </a:solidFill>
                <a:latin typeface="Calibri"/>
              </a:rPr>
              <a:t>сеть из 15 узлов, все сценарии, сырые данные в новом каталоге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Вихарев Д.А., ИСБ-123 · Защищённая оверлейная P2P-сеть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Защищённая оверлейная P2P-сеть</dc:title>
  <dc:subject/>
  <dc:creator>Вихарев Д.А.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